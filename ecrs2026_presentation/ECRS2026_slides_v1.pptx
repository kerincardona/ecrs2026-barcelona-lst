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B2A4A"/>
                </a:solidFill>
                <a:latin typeface="Calibri"/>
              </a:defRPr>
            </a:pPr>
            <a:r>
              <a:t>A 12-Year, 30 m Thermal Baseline for the Barcelona Metropolitan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C0392B"/>
                </a:solidFill>
                <a:latin typeface="Calibri"/>
              </a:defRPr>
            </a:pPr>
            <a:r>
              <a:t>A 12-year, 30 m thermal baseline for urban climate adaptation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Calibri"/>
              </a:defRPr>
            </a:pPr>
            <a:r>
              <a:t>Kerin Cardona, Jordi Cipriano, Gerard Mor  —  CIMNE (International Centre for Numerical Methods in Engineering)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E6E6E"/>
                </a:solidFill>
                <a:latin typeface="Calibri"/>
              </a:defRPr>
            </a:pPr>
            <a:r>
              <a:t>ECRS 2026  |  Session S5 — Remote Sensing in Urban Areas  |  Oral, online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E6E6E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The Problem: No Baseline, No Way to Measure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2400">
                <a:solidFill>
                  <a:srgbClr val="333333"/>
                </a:solidFill>
                <a:latin typeface="Calibri"/>
              </a:defRPr>
            </a:pPr>
            <a:r>
              <a:t>•  Outdoor thermal exposure depends strongly on urban surface temperature.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2400">
                <a:solidFill>
                  <a:srgbClr val="333333"/>
                </a:solidFill>
                <a:latin typeface="Calibri"/>
              </a:defRPr>
            </a:pPr>
            <a:r>
              <a:t>•  The gap: long-term, high-resolution LST climatologies remain scarce for Mediterranean cities.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2400">
                <a:solidFill>
                  <a:srgbClr val="333333"/>
                </a:solidFill>
                <a:latin typeface="Calibri"/>
              </a:defRPr>
            </a:pPr>
            <a:r>
              <a:t>•  Without a baseline: cannot measure change, cannot prioritize interventions, cannot tell which neighborhoods are persistently hotter.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2400">
                <a:solidFill>
                  <a:srgbClr val="333333"/>
                </a:solidFill>
                <a:latin typeface="Calibri"/>
              </a:defRPr>
            </a:pPr>
            <a:r>
              <a:t>•  Barcelona: 3M+ people in its metropolitan area, a Mediterranean coastal city — until now, no systematic, satellite-based thermal baseline.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E6E6E"/>
                </a:solidFill>
                <a:latin typeface="Calibri"/>
              </a:defRPr>
            </a:pPr>
            <a:r>
              <a:t>METHODS —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Calibri"/>
              </a:defRPr>
            </a:pPr>
            <a:r>
              <a:t>Study Area and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464 km² over the Barcelona metropolitan core (21.1 × 22.0 km).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378 Landsat 8/9 scenes, Collection 2 Level-2, 2013–2024 (12 years).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30 m grid, cloud-filtered.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Four seasonal medians (winter, spring, summer, fall) → one climatology.</a:t>
            </a:r>
          </a:p>
        </p:txBody>
      </p:sp>
      <p:pic>
        <p:nvPicPr>
          <p:cNvPr id="5" name="Picture 4" descr="fig_studyarea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81036"/>
            <a:ext cx="5669280" cy="47360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E6E6E"/>
                </a:solidFill>
                <a:latin typeface="Calibri"/>
              </a:defRPr>
            </a:pPr>
            <a:r>
              <a:t>METHODS — CLASSIFICATION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Calibri"/>
              </a:defRPr>
            </a:pPr>
            <a:r>
              <a:t>Local Climate Zones + Dual Consistency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6309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Local Climate Zones (WUDAPT/Demuzere) — each zone has a distinct urban form: building height, density, vegetation cover.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Reference: LCZ D (low plants) — the rural background.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Two consistency checks, not one: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–  ERA5-Land skin temperature, n=325 matched pairs — checks the seasonal cycle.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–  ECOSTRESS, 70 m, n=7 near-coincident scene pairs (|Δt| ≤ 2h) — independent consistency assessment.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Consistency — not validation. Seven scene pairs is not enough for full validation.</a:t>
            </a:r>
          </a:p>
        </p:txBody>
      </p:sp>
      <p:pic>
        <p:nvPicPr>
          <p:cNvPr id="5" name="Picture 4" descr="fig_lcz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76619"/>
            <a:ext cx="4846320" cy="317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E6E6E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Calibri"/>
              </a:defRPr>
            </a:pPr>
            <a:r>
              <a:t>LCZ Thermal Hierarchy: The Tree-Canopy Cool Island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6309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Median JJA (summer) LST by Local Climate Zone, relative to LCZ D (rural reference):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–  LCZ 8 — large low-rise: +1.4 K (hottest built class)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–  LCZ 10 — heavy industry: +1.0 K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–  LCZ A — dense trees: −8.0 K (tree-canopy cool island)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A 9.4-Kelvin gap between large low-rise and dense trees — same city, same 12-year summer climatology.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It is not that built areas are exceptionally hot — it is that trees are dramatically cooler.</a:t>
            </a:r>
          </a:p>
        </p:txBody>
      </p:sp>
      <p:pic>
        <p:nvPicPr>
          <p:cNvPr id="5" name="Picture 4" descr="fig1_suhi_by_lc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93341"/>
            <a:ext cx="4937760" cy="35285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E6E6E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Calibri"/>
              </a:defRPr>
            </a:pPr>
            <a:r>
              <a:t>Hotspot Analysis: Where Heat Recurs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Hotspot = pixel above the summer (JJA) P90 threshold.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78% of the land area (64% of the window, which includes sea) experiences at least one hotspot event in 12 years.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1.3% of the land area is persistently affected (hotspot frequency &gt; 0.5) — the same pixels, year after year.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These are the places where adaptation matters most: tree planting, cool roofs, urban redesign.</a:t>
            </a:r>
          </a:p>
        </p:txBody>
      </p:sp>
      <p:pic>
        <p:nvPicPr>
          <p:cNvPr id="5" name="Picture 4" descr="fig_hotspot_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84682"/>
            <a:ext cx="5669280" cy="45287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E6E6E"/>
                </a:solidFill>
                <a:latin typeface="Calibri"/>
              </a:defRPr>
            </a:pPr>
            <a:r>
              <a:t>RESULTS —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Calibri"/>
              </a:defRPr>
            </a:pPr>
            <a:r>
              <a:t>Two Independent Consistency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ERA5-Land (left panel): pooled seasonal cycle r = 0.92 — good agreement at the seasonal scale.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   –  Within the summer season (JJA), r drops to 0.26 — ERA5 tracks the seasons but does not resolve intra-urban structure (0.1° grid).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ECOSTRESS, 70 m (right panel): bias +0.37 K, RMSE 4.4 K, r = 0.92 — consistent with our 30 m field.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ERA5 tells you what season it is. ECOSTRESS tells you your LST is about right. Only Landsat gives you the 30 m structure.</a:t>
            </a:r>
          </a:p>
        </p:txBody>
      </p:sp>
      <p:pic>
        <p:nvPicPr>
          <p:cNvPr id="5" name="Picture 4" descr="fig_validatio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899" y="3794760"/>
            <a:ext cx="600572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_climax_lst_j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04" y="137160"/>
            <a:ext cx="7227271" cy="6583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0" y="25603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A4A"/>
                </a:solidFill>
                <a:latin typeface="Calibri"/>
              </a:defRPr>
            </a:pPr>
            <a:r>
              <a:t>This is the baseline.</a:t>
            </a:r>
          </a:p>
          <a:p>
            <a:pPr>
              <a:spcBef>
                <a:spcPts val="1400"/>
              </a:spcBef>
              <a:defRPr sz="2200">
                <a:solidFill>
                  <a:srgbClr val="C0392B"/>
                </a:solidFill>
                <a:latin typeface="Calibri"/>
              </a:defRPr>
            </a:pPr>
            <a:r>
              <a:t>12 years. 30 meters.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E6E6E"/>
                </a:solidFill>
                <a:latin typeface="Calibri"/>
              </a:defRPr>
            </a:pPr>
            <a:r>
              <a:t>BRIDGE TO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Calibri"/>
              </a:defRPr>
            </a:pPr>
            <a:r>
              <a:t>Building Exposure: From Map to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The climatology is not just a map — it is an exposure baseline.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106,000+ buildings overlaid across 13 municipalities; each building gets the median summer LST within a 30 m buffer.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At Landsat's effective thermal resolution (~100 m), these are exposure indicators, not per-building retrievals.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333333"/>
                </a:solidFill>
                <a:latin typeface="Calibri"/>
              </a:defRPr>
            </a:pPr>
            <a:r>
              <a:t>•  They tell you which neighborhoods carry the highest thermal load on their building stock.</a:t>
            </a:r>
          </a:p>
        </p:txBody>
      </p:sp>
      <p:pic>
        <p:nvPicPr>
          <p:cNvPr id="5" name="Picture 4" descr="fig6_censustract_expo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195" y="3566160"/>
            <a:ext cx="6291128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E6E6E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Three Findings — and One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1.  A 12-year, 30 m SUHI-by-LCZ climatology for a Mediterranean city — reproducible, built entirely from open data.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2.  Dense tree cover is 8 K cooler than the rural reference (≈9.4 K below large low-rise) — vegetation is the dominant spatial cooling signal.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3.  ECOSTRESS confirms our Landsat field is consistent; ERA5 cannot substitute for high-resolution urban LST.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206240"/>
            <a:ext cx="10332720" cy="173736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TAKEAWAY</a:t>
            </a:r>
          </a:p>
          <a:p>
            <a:pPr algn="ctr">
              <a:spcBef>
                <a:spcPts val="600"/>
              </a:spcBef>
              <a:defRPr sz="2200" b="1">
                <a:solidFill>
                  <a:srgbClr val="1B2A4A"/>
                </a:solidFill>
              </a:defRPr>
            </a:pPr>
            <a:r>
              <a:t>A reproducible, satellite-based thermal baseline for adaptation planning in Mediterranean coastal cities.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E6E6E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B2A4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Calibri"/>
              </a:defRPr>
            </a:pPr>
            <a:r>
              <a:t>Slides, posters and figure code: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0392B"/>
                </a:solidFill>
                <a:latin typeface="Calibri"/>
              </a:defRPr>
            </a:pPr>
            <a:r>
              <a:t>github.com/kerin84/ecrs2026-barcelona-lst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Calibri"/>
              </a:defRPr>
            </a:pPr>
            <a:r>
              <a:t>kcardona@cimne.upc.edu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E6E6E"/>
                </a:solidFill>
                <a:latin typeface="Calibri"/>
              </a:defRPr>
            </a:pPr>
            <a:r>
              <a:t>Happy to take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